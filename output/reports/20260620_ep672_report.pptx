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0"/>
            <a:ext cx="2286000" cy="22860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097280"/>
            <a:ext cx="10332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2B579A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市場分析報告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A3A6C"/>
                </a:solidFill>
                <a:latin typeface="Microsoft JhengHei"/>
              </a:defRPr>
              <a:lnSpc>
                <a:spcPct val="120000"/>
              </a:lnSpc>
            </a:pPr>
            <a:r>
              <a:t>功率半導體超級週期｜族群輪動｜台股創歷史新高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200400"/>
            <a:ext cx="3931920" cy="457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功率半導體 lead time 99週 | IDM 全面動起來 | 台股再創新高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被動元件族群輪動 | 機器人布局萌芽期 | Marvell 三征告捷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2026 年 6 月 20 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943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目錄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 功率半導體超級週期 + 族群輪動 + 台股創新高 + 機器人布局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2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26517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08760" y="2103120"/>
            <a:ext cx="1005840" cy="100584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市場總覽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JhengHei"/>
              </a:defRPr>
              <a:lnSpc>
                <a:spcPct val="150000"/>
              </a:lnSpc>
            </a:pPr>
            <a:r>
              <a:t>台股創歷史新高</a:t>
            </a:r>
            <a:br/>
            <a:r>
              <a:t>族群輪動進行中</a:t>
            </a:r>
            <a:br/>
            <a:r>
              <a:t>AI 伺服器主線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5486400"/>
            <a:ext cx="1188720" cy="457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1828800"/>
            <a:ext cx="26517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103120"/>
            <a:ext cx="1005840" cy="1005840"/>
          </a:xfrm>
          <a:prstGeom prst="ellipse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功率半導體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JhengHei"/>
              </a:defRPr>
              <a:lnSpc>
                <a:spcPct val="150000"/>
              </a:lnSpc>
            </a:pPr>
            <a:r>
              <a:t>IDM 缺貨嚴峻</a:t>
            </a:r>
            <a:br/>
            <a:r>
              <a:t>lead time 99+ 週</a:t>
            </a:r>
            <a:br/>
            <a:r>
              <a:t>需求驅動持續性強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5486400"/>
            <a:ext cx="1188720" cy="4572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1828800"/>
            <a:ext cx="26517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60920" y="2103120"/>
            <a:ext cx="1005840" cy="1005840"/>
          </a:xfrm>
          <a:prstGeom prst="ellipse">
            <a:avLst/>
          </a:prstGeom>
          <a:solidFill>
            <a:srgbClr val="5BA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產業趨勢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JhengHei"/>
              </a:defRPr>
              <a:lnSpc>
                <a:spcPct val="150000"/>
              </a:lnSpc>
            </a:pPr>
            <a:r>
              <a:t>被動元件輪動教訓</a:t>
            </a:r>
            <a:br/>
            <a:r>
              <a:t>機器人布局萌芽</a:t>
            </a:r>
            <a:br/>
            <a:r>
              <a:t>軟硬分化持續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5486400"/>
            <a:ext cx="1188720" cy="45720"/>
          </a:xfrm>
          <a:prstGeom prst="rect">
            <a:avLst/>
          </a:prstGeom>
          <a:solidFill>
            <a:srgbClr val="5BA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09760" y="1828800"/>
            <a:ext cx="26517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87000" y="2103120"/>
            <a:ext cx="1005840" cy="10058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投資策略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JhengHei"/>
              </a:defRPr>
              <a:lnSpc>
                <a:spcPct val="150000"/>
              </a:lnSpc>
            </a:pPr>
            <a:r>
              <a:t>美股台股推薦</a:t>
            </a:r>
            <a:br/>
            <a:r>
              <a:t>配置建議</a:t>
            </a:r>
            <a:br/>
            <a:r>
              <a:t>後市展望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5486400"/>
            <a:ext cx="118872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市場總覽 — 台股創歷史新高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族群輪動進行中 | AI 伺服器 Rubin 平台拉貨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美股四大指數 — 費半強勢領漲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2026/06/20 — 道瓊+0.2% 標普+0.5% 那指+0.8% 費半+2.1%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4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28016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280160"/>
            <a:ext cx="26517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道瓊工業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D2D2D"/>
                </a:solidFill>
                <a:latin typeface="Arial"/>
              </a:defRPr>
              <a:lnSpc>
                <a:spcPct val="120000"/>
              </a:lnSpc>
            </a:pPr>
            <a:r>
              <a:t>44,000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7AE60"/>
                </a:solidFill>
                <a:latin typeface="Microsoft JhengHei"/>
              </a:defRPr>
              <a:lnSpc>
                <a:spcPct val="120000"/>
              </a:lnSpc>
            </a:pPr>
            <a:r>
              <a:t>+88 pt（+0.2%）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28016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280160"/>
            <a:ext cx="26517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標普 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D2D2D"/>
                </a:solidFill>
                <a:latin typeface="Arial"/>
              </a:defRPr>
              <a:lnSpc>
                <a:spcPct val="120000"/>
              </a:lnSpc>
            </a:pPr>
            <a:r>
              <a:t>6,200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7AE60"/>
                </a:solidFill>
                <a:latin typeface="Microsoft JhengHei"/>
              </a:defRPr>
              <a:lnSpc>
                <a:spcPct val="120000"/>
              </a:lnSpc>
            </a:pPr>
            <a:r>
              <a:t>+31 pt（+0.5%）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28016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280160"/>
            <a:ext cx="26517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納斯達克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D2D2D"/>
                </a:solidFill>
                <a:latin typeface="Arial"/>
              </a:defRPr>
              <a:lnSpc>
                <a:spcPct val="120000"/>
              </a:lnSpc>
            </a:pPr>
            <a:r>
              <a:t>20,800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7AE60"/>
                </a:solidFill>
                <a:latin typeface="Microsoft JhengHei"/>
              </a:defRPr>
              <a:lnSpc>
                <a:spcPct val="120000"/>
              </a:lnSpc>
            </a:pPr>
            <a:r>
              <a:t>+166 pt（+0.8%）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28016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1280160"/>
            <a:ext cx="26517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費城半導體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D2D2D"/>
                </a:solidFill>
                <a:latin typeface="Arial"/>
              </a:defRPr>
              <a:lnSpc>
                <a:spcPct val="120000"/>
              </a:lnSpc>
            </a:pPr>
            <a:r>
              <a:t>5,800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7AE60"/>
                </a:solidFill>
                <a:latin typeface="Microsoft JhengHei"/>
              </a:defRPr>
              <a:lnSpc>
                <a:spcPct val="120000"/>
              </a:lnSpc>
            </a:pPr>
            <a:r>
              <a:t>+120 pt（+2.1%）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926080"/>
            <a:ext cx="100584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台股指數再次創歷史新高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台股站上 40,000+ | 功率半導體接棒被動元件 | 手上弱勢股 ≠ 市場轉弱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5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89520" y="1188720"/>
            <a:ext cx="42976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32588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台股創新高解析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台股指數再次創歷史新高（40,000+）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功率半導體接棒被動元件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B579A"/>
                </a:solidFill>
                <a:latin typeface="Microsoft JhengHei"/>
              </a:defRPr>
            </a:pPr>
            <a:r>
              <a:t>  重要觀念：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  手上持股弱 ≠ 市場整體轉弱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不同族群有不同輪動邏輯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AI 仍在幼年期，週期走更遠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台股多頭框架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AI 伺服器持續拉貨 + 台積電 Rubin 平台需求確認 → 台股基本面支撐穩固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族群輪動是市場健康的表徵，資金從被動元件 → 功率半導體 → 機器人（長線）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TWO.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功率半導體 — 超級週期啟動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IDM 廠 lead time 突破 99 週 | AI 伺服器 Rubin 帶動全鏈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功率半導體缺貨分析 — IDM Lead Time 爆炸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IFX/STM/ON/Rohm 全面拉長至 80-99 週 | 需求驅動，非投機炒作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7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89520" y="1188720"/>
            <a:ext cx="42976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32588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缺貨背後的邏輯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E84D4D"/>
                </a:solidFill>
                <a:latin typeface="Microsoft JhengHei"/>
              </a:defRPr>
            </a:pPr>
            <a:r>
              <a:t>  IFX/STM：99+ 週（某料號直接標 "99+"）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E84D4D"/>
                </a:solidFill>
                <a:latin typeface="Microsoft JhengHei"/>
              </a:defRPr>
            </a:pPr>
            <a:r>
              <a:t>  代表買不到！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需求驅動 vs 投機炒作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7AE60"/>
                </a:solidFill>
                <a:latin typeface="Microsoft JhengHei"/>
              </a:defRPr>
            </a:pPr>
            <a:r>
              <a:t>  AI Rubin 伺服器真實需求驅動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持續性遠強於貴金屬漲價驅動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Global 現象，非單一市場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台廠 IDM 開始受益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下一個驗證點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IDM 廠商何時釋出產能，是投資週期長短的關鍵。6/8吋代工廠解瓶頸能力決定台廠受惠程度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溢價落在哪個環節（IDM vs Fabless vs 代工廠）需持續觀察，現階段 IDM 最確定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功率半導體供應鏈 — 各環節全面受惠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IDM/Fabless/6吋8吋代工廠 估值修復 | 溢價落在哪裡是關鍵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8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474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480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供應鏈各環節分析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IDM（自給自足）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掌握產能 = 最穩，IFX/STM最強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Fabless（設計廠）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掌握客戶，需搶代工廠產能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6吋/8吋代工廠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去瓶頸的關鍵，台廠優勢明顯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B579A"/>
                </a:solidFill>
                <a:latin typeface="Microsoft JhengHei"/>
              </a:defRPr>
            </a:pPr>
            <a:r>
              <a:t>  溢價落在哪個環節？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持續觀察是投資重點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AI 伺服器需求驅動 — Nvidia Rubin 平台拉貨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需求端驅動 vs 投機炒作完全不同 | 消費性/車用仍弱讓 AI 週期更穩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9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89520" y="1188720"/>
            <a:ext cx="42976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32588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AI 週期為何走得更穩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Nvidia Rubin 密集拉貨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沒有這些料伺服器拼不出來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消費性 + 車用仍疲弱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反而讓 AI 週期走得更遠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避免所有品類同搶料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台積電就像「限制器」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確保週期走得更穩更長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CSP 不計代價搶料是關鍵支撐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雲端巨頭（CSP）不計代價搶料，確保 AI 伺服器按時交付，訂單能見度高、違約成本高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AI 週期仍在幼年期 — 不要猜幾局下半場，現在連上半場都還沒打完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THREE.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產業趨勢 — 被動元件 / 機器人 / 軟硬分化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意外的輪動教訓 | 機器人萌芽期 | 軟體重定位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被動元件族群輪動教訓 — 意外的是電阻跑最快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最缺的不一定漲最多 | 排擠效應 | VShard 雙重曝險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11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89520" y="1188720"/>
            <a:ext cx="42976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32588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被動元件輪動啟示錄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E84D4D"/>
                </a:solidFill>
                <a:latin typeface="Microsoft JhengHei"/>
              </a:defRPr>
            </a:pPr>
            <a:r>
              <a:t>  教訓：最缺 ≠ 漲最多！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電阻（最不被看好）反而噴最凶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排擠效應邏輯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最強料把最高端產能全占走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MLCC 排擠電阻的代工產能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VShard（華新科）特殊之處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7AE60"/>
                </a:solidFill>
                <a:latin typeface="Microsoft JhengHei"/>
              </a:defRPr>
            </a:pPr>
            <a:r>
              <a:t>  被動元件 + 功率半導體雙重曝險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市場永遠讓你意外，不要把話說死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族群輪動：資金從被動元件轉向功率半導體。但 VShard（華新科）同時有兩邊曝險，是特殊的選擇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HBM vs DDR4/DDR5 的故事重演：最高端不是最多漲，排擠效應創造意外贏家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機器人早期布局 — Tesla Optimus 催化萌芽期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工控零組件廠出現低個位數機器人訂單 | 等財報驗證就太晚了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12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029200" cy="47548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577840" y="1188720"/>
            <a:ext cx="63093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3258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機器人布局策略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Tesla Optimus 是主要催化劑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工控零組件廠：低個位數機器人訂單占比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重點零組件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日本廠：斜坡減速器（harmonic drive）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電機/馬達、感測器、台灣工控零件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布局策略：不等財報驗證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E84D4D"/>
                </a:solidFill>
                <a:latin typeface="Microsoft JhengHei"/>
              </a:defRPr>
            </a:pPr>
            <a:r>
              <a:t>  等財報確認再進場 = 太晚了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現在萌芽期是最好的埋伏點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預計是中大型長期趨勢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軟體/AI 是機器人最重要的靈魂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硬體 vs 軟體年初至今分化極端化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軟體 hiring freeze = over-hiring 消化 | AI 讓工程師重定位，非淘汰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13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474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480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軟硬分化的真正原因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硬體為何強：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AI 基礎建設需求爆發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功率半導體 lead time 99+ 週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E84D4D"/>
                </a:solidFill>
                <a:latin typeface="Microsoft JhengHei"/>
              </a:defRPr>
            </a:pPr>
            <a:r>
              <a:t>  軟體為何弱：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Hiring freeze = over-hiring 消化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59E0B"/>
                </a:solidFill>
                <a:latin typeface="Microsoft JhengHei"/>
              </a:defRPr>
            </a:pPr>
            <a:r>
              <a:t>  不是 AI 替代工程師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工程師的未來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AI 讓工程師重定位，TAM 更大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7AE60"/>
                </a:solidFill>
                <a:latin typeface="Microsoft JhengHei"/>
              </a:defRPr>
            </a:pPr>
            <a:r>
              <a:t>  能 harness AI 工具 = 贏家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FOUR.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投資策略 — 美股台股推薦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Marvell 三征告捷 | 功率半導體鏈布局 | 族群輪動框架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美股推薦清單 — 功率半導體 IDM + Marvell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Marvell 三次進攻終於成功 | IDM lead time 99 週 = 最強基本面支撐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15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474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480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美股推薦邏輯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Marvell (MRVL)：9/10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AI 定制芯片龍頭，三征告捷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7AE60"/>
                </a:solidFill>
                <a:latin typeface="Microsoft JhengHei"/>
              </a:defRPr>
            </a:pPr>
            <a:r>
              <a:t>  正在持有並加碼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E84D4D"/>
                </a:solidFill>
                <a:latin typeface="Microsoft JhengHei"/>
              </a:defRPr>
            </a:pPr>
            <a:r>
              <a:t>  功率半導體 IDM：8/10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ON Semi / TXN / STM / IFX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lead time 99 週 = 最強支撐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CPU 類股（AMD）：7/10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AI 算力需求持續帶動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B579A"/>
                </a:solidFill>
                <a:latin typeface="Microsoft JhengHei"/>
              </a:defRPr>
            </a:pPr>
            <a:r>
              <a:t>  策略：族群確認後，逢回機會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台股推薦方向 — 功率半導體鏈優先，機器人長線布局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VShard 雙重曝險 | 6/8吋代工廠是瓶頸解方 | 機器人萌芽埋伏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16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474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480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台股推薦邏輯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功率半導體設計廠：9/10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受惠 IDM 二公效應，台廠接單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VShard（華新科）：8.5/10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被動元件 + 功率半導體雙重曝險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6/8吋代工廠：8.5/10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解決瓶頸的關鍵玩家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8E44AD"/>
                </a:solidFill>
                <a:latin typeface="Microsoft JhengHei"/>
              </a:defRPr>
            </a:pPr>
            <a:r>
              <a:t>  機器人零組件：6/10（長線）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現在埋伏，等財報逐步驗證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FIVE.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投資策略總結 — 2026.06.20 操作建議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功率半導體主線配置 | 族群輪動框架 | 風險評估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產業動能雷達 &amp; 配置建議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功率半導體 10 分滿分 | 機器人未來評分持續提升 | 現金等機器人確認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18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4754880" cy="47548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0" y="1188720"/>
            <a:ext cx="67665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280160"/>
            <a:ext cx="6400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積極型配置建議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功率半導體鏈 40%（主線確認，IDM/代工/Fabless）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AI 伺服器/台積電 25%（Rubin 需求確認）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機器人長線布局 10%（萌芽期先埋伏）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現金 25%（等機器人題材確認）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474720"/>
            <a:ext cx="67665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356616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穩健型配置建議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現金 40%（等機器人確認後再加碼）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台積電/大型權值 30%（AI 主線確定）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防禦科技ETF 20%（降低個股集中風險）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機器人長線 10%（少量先布局）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100" b="1">
                <a:solidFill>
                  <a:srgbClr val="F59E0B"/>
                </a:solidFill>
                <a:latin typeface="Microsoft JhengHei"/>
              </a:defRPr>
            </a:pPr>
            <a:r>
              <a:t>  注意：功率半導體族群籌碼擁擠時要減碼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資產配置圖解 &amp; 後市觀察重點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 — 功率半導體主線確立，機器人萌芽布局期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2026.06.20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股癌 Podcast EP672 — 2026.06.20 投資分析報告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19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0" y="1188720"/>
            <a:ext cx="3657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28016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後市觀察重點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1. IDM 廠商財報電話會議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下一季更新是最大驗證點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2. 6/8吋代工廠產能釋出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解瓶頸是台廠受惠關鍵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3. 功率半導體籌碼擁擠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當前族群是否已過熱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4. 機器人占比何時提升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工控廠商占比出現明顯提升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5. 消費性/車用需求是否回升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E84D4D"/>
                </a:solidFill>
                <a:latin typeface="Microsoft JhengHei"/>
              </a:defRPr>
            </a:pPr>
            <a:r>
              <a:t>  回升 = AI 週期加速縮短風險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核心策略總結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  功率半導體超級週期確認，IDM lead time 99+ 週是最強基本面支撐；台股創新高是市場健康的表現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D6E8F7"/>
                </a:solidFill>
                <a:latin typeface="Microsoft JhengHei"/>
              </a:defRPr>
            </a:pPr>
            <a:r>
              <a:t>  機器人萌芽期先布局，不要等財報驗證；Marvell 三征告捷，AI 定制芯片主線持續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2026.06.20 股癌 EP672 重點回顧 &amp; 後市展望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188720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B579A"/>
                </a:solidFill>
                <a:latin typeface="Microsoft JhengHei"/>
              </a:defRPr>
            </a:pPr>
            <a:r>
              <a:t>本集五大重點回顧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1. 台股再創歷史新高：整體市場多頭，手上持股弱不等於市場弱，需區分族群邏輯，功率半導體接棒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2. 功率半導體超級週期：IFX/STM/ON/Rohm lead time 99+ 週，需求驅動持續性遠強於投機炒作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3. 被動元件輪動教訓：最缺的不一定漲最多，電阻意外跑最快，市場永遠讓你意外不要把話說死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4. 機器人萌芽布局：Tesla Optimus 催化，工控零組件廠開始出現機器人訂單，現在進場是最佳時機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5. 美股 Marvell 三征告捷：AI 定制芯片龍頭持續加碼，功率半導體 IDM 全面表態，是 global 現象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B579A"/>
                </a:solidFill>
                <a:latin typeface="Microsoft JhengHei"/>
              </a:defRPr>
            </a:pPr>
            <a:r>
              <a:t>後市展望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D2D2D"/>
                </a:solidFill>
                <a:latin typeface="Microsoft JhengHei"/>
              </a:defRPr>
            </a:pPr>
            <a:r>
              <a:t>  功率半導體週期驗證重點：IDM 廠商下一輪電話會議更新，6/8吋代工廠能否接單是解套關鍵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D2D2D"/>
                </a:solidFill>
                <a:latin typeface="Microsoft JhengHei"/>
              </a:defRPr>
            </a:pPr>
            <a:r>
              <a:t>  機器人題材什麼時候進入財報驗證期；消費性/車用起來會縮短 AI 週期，是週期風險需追蹤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D2D2D"/>
                </a:solidFill>
                <a:latin typeface="Microsoft JhengHei"/>
              </a:defRPr>
            </a:pPr>
            <a:r>
              <a:t>  AI 仍在幼年期，不要猜幾局下半場，台股功率半導體族群籌碼擁擠程度需持續監控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400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資料來源：股癌 Podcast EP672 | 分析日期：2026-06-20 | 本報告僅供參考，非投資建議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