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0"/>
            <a:ext cx="2286000" cy="22860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097280"/>
            <a:ext cx="10332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800" b="1">
                <a:solidFill>
                  <a:srgbClr val="2B579A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市場分析報告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1A3A6C"/>
                </a:solidFill>
                <a:latin typeface="Microsoft JhengHei"/>
              </a:defRPr>
              <a:lnSpc>
                <a:spcPct val="120000"/>
              </a:lnSpc>
            </a:pPr>
            <a:r>
              <a:t>台積電條款 買盤剛啟動｜外資賣超500億 股市卻創4萬新高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200400"/>
            <a:ext cx="3931920" cy="457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台股盤中40,194點歷史新高 | 投信需1-3月進場 | 費半估值60倍均值回歸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標普500&amp;那指齊創新高 | 金管會五箭亞資中心7月全台落地 | IPO下半年搶錢1,600億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2026 年 4 月 28 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9436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綜合分析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目錄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 台積電條款+台股4萬+費半整理+金管會五箭+IPO搶錢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2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28800"/>
            <a:ext cx="26517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08760" y="2103120"/>
            <a:ext cx="1005840" cy="1005840"/>
          </a:xfrm>
          <a:prstGeom prst="ellipse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市場總覽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JhengHei"/>
              </a:defRPr>
              <a:lnSpc>
                <a:spcPct val="150000"/>
              </a:lnSpc>
            </a:pPr>
            <a:r>
              <a:t>台股衝破4萬點</a:t>
            </a:r>
            <a:br/>
            <a:r>
              <a:t>外資賣500億仍創高</a:t>
            </a:r>
            <a:br/>
            <a:r>
              <a:t>一個人的50現象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5486400"/>
            <a:ext cx="1188720" cy="4572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0" y="1828800"/>
            <a:ext cx="26517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103120"/>
            <a:ext cx="1005840" cy="1005840"/>
          </a:xfrm>
          <a:prstGeom prst="ellipse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台積電條款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JhengHei"/>
              </a:defRPr>
              <a:lnSpc>
                <a:spcPct val="150000"/>
              </a:lnSpc>
            </a:pPr>
            <a:r>
              <a:t>散戶先搶、投信待進</a:t>
            </a:r>
            <a:br/>
            <a:r>
              <a:t>1,500-2,000億流入</a:t>
            </a:r>
            <a:br/>
            <a:r>
              <a:t>3個月進場時程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5486400"/>
            <a:ext cx="1188720" cy="4572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0" y="1828800"/>
            <a:ext cx="26517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60920" y="2103120"/>
            <a:ext cx="1005840" cy="1005840"/>
          </a:xfrm>
          <a:prstGeom prst="ellipse">
            <a:avLst/>
          </a:prstGeom>
          <a:solidFill>
            <a:srgbClr val="5BA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台灣金融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JhengHei"/>
              </a:defRPr>
              <a:lnSpc>
                <a:spcPct val="150000"/>
              </a:lnSpc>
            </a:pPr>
            <a:r>
              <a:t>景氣紅燈39分</a:t>
            </a:r>
            <a:br/>
            <a:r>
              <a:t>富豪客戶+72%</a:t>
            </a:r>
            <a:br/>
            <a:r>
              <a:t>金管會五箭全台落地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5486400"/>
            <a:ext cx="1188720" cy="45720"/>
          </a:xfrm>
          <a:prstGeom prst="rect">
            <a:avLst/>
          </a:prstGeom>
          <a:solidFill>
            <a:srgbClr val="5BA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09760" y="1828800"/>
            <a:ext cx="26517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87000" y="2103120"/>
            <a:ext cx="1005840" cy="10058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291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投資策略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8404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JhengHei"/>
              </a:defRPr>
              <a:lnSpc>
                <a:spcPct val="150000"/>
              </a:lnSpc>
            </a:pPr>
            <a:r>
              <a:t>擁擠交易部署</a:t>
            </a:r>
            <a:br/>
            <a:r>
              <a:t>IPO搶錢應對</a:t>
            </a:r>
            <a:br/>
            <a:r>
              <a:t>後市觀察重點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5486400"/>
            <a:ext cx="118872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市場總覽 — 台股衝破4萬點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盤中40,194歷史新高 | 外資賣500億 內資撐盤 | 標普&amp;那指創新高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美股四大指數 — 標普/那指創新高，費半均值回歸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2026/04/25 — 標普+0.74% 那指+1.02% 費半-0.48%（估值60倍整理）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4 /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28016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280160"/>
            <a:ext cx="26517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道瓊工業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D2D2D"/>
                </a:solidFill>
                <a:latin typeface="Arial"/>
              </a:defRPr>
              <a:lnSpc>
                <a:spcPct val="120000"/>
              </a:lnSpc>
            </a:pPr>
            <a:r>
              <a:t>49,620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7AE60"/>
                </a:solidFill>
                <a:latin typeface="Microsoft JhengHei"/>
              </a:defRPr>
              <a:lnSpc>
                <a:spcPct val="120000"/>
              </a:lnSpc>
            </a:pPr>
            <a:r>
              <a:t>+252 pt（+0.52%）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28016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280160"/>
            <a:ext cx="26517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標普 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D2D2D"/>
                </a:solidFill>
                <a:latin typeface="Arial"/>
              </a:defRPr>
              <a:lnSpc>
                <a:spcPct val="120000"/>
              </a:lnSpc>
            </a:pPr>
            <a:r>
              <a:t>7,196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7AE60"/>
                </a:solidFill>
                <a:latin typeface="Microsoft JhengHei"/>
              </a:defRPr>
              <a:lnSpc>
                <a:spcPct val="120000"/>
              </a:lnSpc>
            </a:pPr>
            <a:r>
              <a:t>+53 pt（+0.74%）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28016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280160"/>
            <a:ext cx="26517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納斯達克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D2D2D"/>
                </a:solidFill>
                <a:latin typeface="Arial"/>
              </a:defRPr>
              <a:lnSpc>
                <a:spcPct val="120000"/>
              </a:lnSpc>
            </a:pPr>
            <a:r>
              <a:t>24,708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7AE60"/>
                </a:solidFill>
                <a:latin typeface="Microsoft JhengHei"/>
              </a:defRPr>
              <a:lnSpc>
                <a:spcPct val="120000"/>
              </a:lnSpc>
            </a:pPr>
            <a:r>
              <a:t>+249 pt（+1.02%）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280160"/>
            <a:ext cx="27432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1280160"/>
            <a:ext cx="265176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D2D2D"/>
                </a:solidFill>
                <a:latin typeface="Microsoft JhengHei"/>
              </a:defRPr>
              <a:lnSpc>
                <a:spcPct val="120000"/>
              </a:lnSpc>
            </a:pPr>
            <a:r>
              <a:t>費城半導體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1">
                <a:solidFill>
                  <a:srgbClr val="2D2D2D"/>
                </a:solidFill>
                <a:latin typeface="Arial"/>
              </a:defRPr>
              <a:lnSpc>
                <a:spcPct val="120000"/>
              </a:lnSpc>
            </a:pPr>
            <a:r>
              <a:t>10,028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148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E84D4D"/>
                </a:solidFill>
                <a:latin typeface="Microsoft JhengHei"/>
              </a:defRPr>
              <a:lnSpc>
                <a:spcPct val="120000"/>
              </a:lnSpc>
            </a:pPr>
            <a:r>
              <a:t>-49 pt（-0.48%）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926080"/>
            <a:ext cx="100584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台股衝破4萬點 — 歷史新高，但結構不健康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4/27 盤中40,194歷史新高 | 收39,616(+684pt) | 外資賣500億 | 1,300檔下跌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5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89520" y="1188720"/>
            <a:ext cx="42976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32588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4萬點的真相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盤中40,194點 → 歷史新高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E84D4D"/>
                </a:solidFill>
                <a:latin typeface="Microsoft JhengHei"/>
              </a:defRPr>
            </a:pPr>
            <a:r>
              <a:t>  收盤39,616（+684pt）日K收黑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E84D4D"/>
                </a:solidFill>
                <a:latin typeface="Microsoft JhengHei"/>
              </a:defRPr>
            </a:pPr>
            <a:r>
              <a:t>  外資賣超500億（數字大）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投信買超百億（主力撐盤）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F59E0B"/>
                </a:solidFill>
                <a:latin typeface="Microsoft JhengHei"/>
              </a:defRPr>
            </a:pPr>
            <a:r>
              <a:t>  尾盤600億元賣壓壓回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E84D4D"/>
                </a:solidFill>
                <a:latin typeface="Microsoft JhengHei"/>
              </a:defRPr>
            </a:pPr>
            <a:r>
              <a:t>  1,300檔下跌 = 一個人的50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今年第31次創歷史新高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三股力量共振的結果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① 台積電條款預期效應：散戶搶先投信進場 → 推升台積電 → 指數被拉上4萬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② ETF定期扣款：每月固定資金流入撐盤 ③ 政策鬆綁：金管會持續開大門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TWO.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台積電條款 — 散戶先行，投信待動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1,500-2,000億流入預估 | 投信需1-3個月 | 散戶是先行部隊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台積電條款：買盤剛啟動，大部隊還沒進場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投信持股3.11%歷史新高 | 契約修改→董事會→主管機關：至少1-3個月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7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474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480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台積電條款三階段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第一階段（現在）：散戶搶先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「我知道你要買，我先買給你」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預期交易推升急漲行情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第二階段（1-3個月後）：投信進場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需修改契約→董事會通過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→報主管機關審核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第三階段（待確認）：外資觀察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新台幣同步走強是外資訊號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一度突破31.4元（兩月新高）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主動ETF台積電持股排行 — 條款鬆綁後誰受益最大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野村00985A持股29% | 舊上限10% | 新上限25% | ETF永動機現象消失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8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31520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863840" y="1188720"/>
            <a:ext cx="40233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32588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持股上限鬆綁效應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E84D4D"/>
                </a:solidFill>
                <a:latin typeface="Microsoft JhengHei"/>
              </a:defRPr>
            </a:pPr>
            <a:r>
              <a:t>  野村00985A：29%（已超新上限）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  → 已超過25%，須關注調整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持股10-25%的ETF最受益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可直接增持至25%上限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ETF永動機消失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  以前台積超10%→被迫買0050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  現在可直接配置台積電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今年主動ETF表現（YTD）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994A +65% | 981A +64% | 992A +62% ← 持股集中AI/台積電，貝塔值放大效應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主動ETF均值+44% vs 大盤+25%。風水輪流轉：高股息→全市值→主動型，每年都有新主流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資金輪動 — 費半均值回歸，資金轉向軟體/MAG6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費半估值60倍 | 七巨頭（剔除特斯拉）低於5年均值 | 下半年財報季觸媒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9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200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6858000" cy="2103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406640" y="1188720"/>
            <a:ext cx="4572000" cy="5486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3258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輪動邏輯解析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E84D4D"/>
                </a:solidFill>
                <a:latin typeface="Microsoft JhengHei"/>
              </a:defRPr>
            </a:pPr>
            <a:r>
              <a:t>  費半現況：估值60倍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連18天上漲 = 籌碼擁擠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最佳出路：盤整讓時間消化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七巨頭機會：低本益比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Alphabet/微軟/Amazon/Meta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低於5年平均本益比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陸續公布業績 = 觸媒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B579A"/>
                </a:solidFill>
                <a:latin typeface="Microsoft JhengHei"/>
              </a:defRPr>
            </a:pPr>
            <a:r>
              <a:t>  整體標普500：均值24倍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  合理不貴，資金仍充足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7AE60"/>
                </a:solidFill>
                <a:latin typeface="Microsoft JhengHei"/>
              </a:defRPr>
            </a:pPr>
            <a:r>
              <a:t>  YTD標普500 +5.1%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  伊朗戰事跌幅僅7.1%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  遠小於2025關稅戰15%+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THREE.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台灣金融 — 全面升溫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景氣紅燈39分 | 富豪客戶+72% | 金管會五箭亞資中心全台落地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台灣景氣 &amp; 財富效應 — 高檔紅燈 + 富豪暴增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3月景氣39分紅燈 | 高資產客戶+72% | AUM 2.4兆 | 財富效應擴大消費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11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474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480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台灣財富效應全面擴散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景氣：3月39分，高檔紅燈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高資產客戶：23,000人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年增幅72%！「科技新貴暴發」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AUM 2.4兆，年增55%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今年預估突破3兆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F59E0B"/>
                </a:solidFill>
                <a:latin typeface="Microsoft JhengHei"/>
              </a:defRPr>
            </a:pPr>
            <a:r>
              <a:t>  存款比例仍42%（解定存空間大）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E84D4D"/>
                </a:solidFill>
                <a:latin typeface="Microsoft JhengHei"/>
              </a:defRPr>
            </a:pPr>
            <a:r>
              <a:t>  MSCI台灣PB比5.2倍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  極端值+4標準差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27AE60"/>
                </a:solidFill>
                <a:latin typeface="Microsoft JhengHei"/>
              </a:defRPr>
            </a:pPr>
            <a:r>
              <a:t>  但ROE也突破20%（2標準差）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金管會五箭齊發 — 亞資中心7月全台落地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全齡金融×信任金融×亞資中心×國際資本×三軌金融 | 從踩剎車→踩油門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12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5720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金管會五箭重點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① 亞資中心全台落地（7月）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高雄試辦一年→全國推廣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高雄20家銀行，AUM 3,700億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② 虛擬資產管理條例（下半年）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台版穩定幣架構啟動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泰達/Circle等國際業者可拿牌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③ 台灣全球自由度第5名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79.8分，前面是新/瑞/愛/澳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KPI = 鬆綁了多少法規：金融市場發展創新處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金管會設立專屬部門，彭主委每月親自盯「鬆綁進度」，從查違規→找機會，台灣金融業從特許產業→國家產業引擎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0股交易2027年整股同步開盤 | 家族辦公室/境外私募 優先放行 | TISA長期投資帳戶建立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IPO市場：2026年1,600億歷史新高，下半年搶錢大作戰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SpaceX/Anthropic/OpenAI | 目前僅募140-150億 | 資金胃納量考驗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13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5720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IPO搶錢大作戰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7AE60"/>
                </a:solidFill>
                <a:latin typeface="Microsoft JhengHei"/>
              </a:defRPr>
            </a:pPr>
            <a:r>
              <a:t>  2026全年預估：1,600億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E84D4D"/>
                </a:solidFill>
                <a:latin typeface="Microsoft JhengHei"/>
              </a:defRPr>
            </a:pPr>
            <a:r>
              <a:t>  YTD已募：僅140-150億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E84D4D"/>
                </a:solidFill>
                <a:latin typeface="Microsoft JhengHei"/>
              </a:defRPr>
            </a:pPr>
            <a:r>
              <a:t>  → 後面還有1,450億要搶！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主角：SpaceX（最受期待）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Anthropic、OpenAI 待定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→ 市場從防禦→成長敘事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核心問題：資金胃納量？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  股價漲 + IPO搶錢 能並存？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美台市場解定存浪潮：資金量充沛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不只台股游資多，美股也是大量解定存湧入。解定存→股市＋IPO，資金鏈條完整。關鍵是下半年資金夠不夠一邊撐行情一邊被IPO吸走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→ 台股遊資估算：若存款42%的高資產客戶每降1%，流入量達240億，對台股影響不可忽視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FOUR.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投資策略 — 擁擠交易中的部署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台積電條款分批進場 | 外資觀察 | 財富效應評估 | 風險矩陣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台股4萬點的五大支撐力量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台積電EPS 2年翻倍 | 投信持股上限 | ETF扣款 | 外資潛力 | 金管會政策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15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474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188720"/>
            <a:ext cx="44805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三根柱子：難以鬆動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① 權值股EPS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台積電EPS 1,300→2,200（2年翻倍）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高盛被迫上調目標價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② ETF資金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下個月突然不扣款？不可能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每月固定流入是壓艙石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2B579A"/>
                </a:solidFill>
                <a:latin typeface="Microsoft JhengHei"/>
              </a:defRPr>
            </a:pPr>
            <a:r>
              <a:t>  ③ 政策鬆綁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突然緊縮？幾乎不可能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7AE60"/>
                </a:solidFill>
                <a:latin typeface="Microsoft JhengHei"/>
              </a:defRPr>
            </a:pPr>
            <a:r>
              <a:t>  亞資中心才剛要全台落地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扶積滅洋 — 外資7年賣台股，台股翻5倍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2020-2026 外資有6年賣超 | 台股8,000→40,000 | 外資回補是最大上行觸媒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16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6217920" cy="3200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188720"/>
            <a:ext cx="5303520" cy="3200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內資主導的結構性牛市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333333"/>
                </a:solidFill>
                <a:latin typeface="Microsoft JhengHei"/>
              </a:defRPr>
            </a:pPr>
            <a:r>
              <a:t>  外資賣超≠台股不漲：7年6賣，台股翻5倍。內資ETF扣款+主動型ETF+台積電條款 = 強大內生動力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59E0B"/>
                </a:solidFill>
                <a:latin typeface="Microsoft JhengHei"/>
              </a:defRPr>
            </a:pPr>
            <a:r>
              <a:t>  外資觀察指標：新台幣匯率突破31.4元（兩月新高） = 外資有流入機會，股匯雙漲是最強訊號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2B579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  <a:lnSpc>
                <a:spcPct val="120000"/>
              </a:lnSpc>
            </a:pPr>
            <a:r>
              <a:t>PART FIVE.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017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投資策略總結 — 2026.04.28 操作建議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台積電條款分批布局 | 費半整理期策略 | 後市觀察重點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產業動能雷達 &amp; 配置建議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AI硬體整理等待 | 台積電條款分批進場 | 外資觀察是關鍵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18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4754880" cy="47548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120640" y="1188720"/>
            <a:ext cx="676656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1280160"/>
            <a:ext cx="6400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積極型配置建議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台積電/相關ETF 30%（條款效應，分批布局）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主動型ETF 25%（994A/981A/992A 持續跑贏）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現金 25%（等待投信真正進場確認信號）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軟體股/MAG6 10%（低本益比財報季觸媒）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474720"/>
            <a:ext cx="67665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356616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2B579A"/>
                </a:solidFill>
                <a:latin typeface="Microsoft JhengHei"/>
              </a:defRPr>
            </a:pPr>
            <a:r>
              <a:t>穩健型配置建議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現金 40%（高PB 5.2倍，等確認訊號）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台積電/大型ETF 25%（0050/主動型）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防禦型資產 15%（債券/黃金）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D2D2D"/>
                </a:solidFill>
                <a:latin typeface="Microsoft JhengHei"/>
              </a:defRPr>
            </a:pPr>
            <a:r>
              <a:t>  其他 10%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100" b="1">
                <a:solidFill>
                  <a:srgbClr val="F59E0B"/>
                </a:solidFill>
                <a:latin typeface="Microsoft JhengHei"/>
              </a:defRPr>
            </a:pPr>
            <a:r>
              <a:t>  注意：台股日K收黑 + 尾盤600億賣壓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137160"/>
            <a:ext cx="731520" cy="73152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資產配置圖解 &amp; 後市觀察重點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 — 台積電條款買盤剛啟動，分批進場勝於追高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502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2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2026.04.28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99999"/>
                </a:solidFill>
                <a:latin typeface="Microsoft JhengHei"/>
              </a:defRPr>
              <a:lnSpc>
                <a:spcPct val="120000"/>
              </a:lnSpc>
            </a:pPr>
            <a:r>
              <a:t>早晨財經速解讀 — 2026.04.28 市場分析報告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999999"/>
                </a:solidFill>
                <a:latin typeface="Arial"/>
              </a:defRPr>
              <a:lnSpc>
                <a:spcPct val="120000"/>
              </a:lnSpc>
            </a:pPr>
            <a:r>
              <a:t>19 / 20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3200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0" y="1188720"/>
            <a:ext cx="36576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280160"/>
            <a:ext cx="3291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B579A"/>
                </a:solidFill>
                <a:latin typeface="Microsoft JhengHei"/>
              </a:defRPr>
            </a:pPr>
            <a:r>
              <a:t>後市觀察重點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1. 投信何時真正進場？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契約修改→董事會→主管機關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2. 新台幣是否持續走強？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匯率強 = 外資流入訊號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3. 七巨頭財報週結果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軟體資金能否接棒硬體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2D2D2D"/>
                </a:solidFill>
                <a:latin typeface="Microsoft JhengHei"/>
              </a:defRPr>
            </a:pPr>
            <a:r>
              <a:t>  4. ETF贖回潮是否出現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  贖回潮 = 本輪系統性壓力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63440"/>
            <a:ext cx="11612880" cy="1554480"/>
          </a:xfrm>
          <a:prstGeom prst="round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核心策略總結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500" b="0">
                <a:solidFill>
                  <a:srgbClr val="FFFFFF"/>
                </a:solidFill>
                <a:latin typeface="Microsoft JhengHei"/>
              </a:defRPr>
            </a:pPr>
            <a:r>
              <a:t>  台積電條款：散戶先行，投信1-3個月後才真正進場。分批布局優於追高。ETF贖回潮未出現前，多頭格局持續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D6E8F7"/>
                </a:solidFill>
                <a:latin typeface="Microsoft JhengHei"/>
              </a:defRPr>
            </a:pPr>
            <a:r>
              <a:t>  外資賣500億台股仍創高 = 內資力量強大。新台幣走強是外資回補前兆，是最大上行觸媒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FFFFFF"/>
                </a:solidFill>
                <a:latin typeface="Microsoft JhengHei"/>
              </a:defRPr>
              <a:lnSpc>
                <a:spcPct val="120000"/>
              </a:lnSpc>
            </a:pPr>
            <a:r>
              <a:t>2026.04.28 重點回顧 &amp; 後市展望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188720"/>
            <a:ext cx="30175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B579A"/>
                </a:solidFill>
                <a:latin typeface="Microsoft JhengHei"/>
              </a:defRPr>
            </a:pPr>
            <a:r>
              <a:t>本集五大重點回顧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1. 台股衝破4萬點：4/27盤中40,194歷史新高，收39,616(+684pt)，日K收黑。外資賣500億，內資（投信+散戶）撐盤，1,300檔下跌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2. 台積電條款：買盤剛啟動。散戶先搶，投信需1-3個月（契約修改→董事會→主管機關）。預估1,500-2,000億陸續流入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3. 費半均值回歸：估值60倍，資金輪向七巨頭/軟體。標普500&amp;那指齊創新高，YTD+5.1%，行情健康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4. 金管會五箭：亞資中心7月全台落地；虛擬資產管理條例下半年啟動；台灣全球自由度第5名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  5. IPO搶錢大作戰：2026年預估1,600億歷史新高，SpaceX/Anthropic/OpenAI待下半年登場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2B579A"/>
                </a:solidFill>
                <a:latin typeface="Microsoft JhengHei"/>
              </a:defRPr>
            </a:pPr>
            <a:r>
              <a:t>後市觀察重點</a:t>
            </a:r>
          </a:p>
          <a:p>
            <a:pPr algn="l">
              <a:spcAft>
                <a:spcPts val="200"/>
              </a:spcAft>
              <a:defRPr sz="500" b="0">
                <a:solidFill>
                  <a:srgbClr val="333333"/>
                </a:solidFill>
                <a:latin typeface="Microsoft JhengHei"/>
              </a:defRPr>
            </a:pPr>
          </a:p>
          <a:p>
            <a:pPr algn="l">
              <a:spcAft>
                <a:spcPts val="200"/>
              </a:spcAft>
              <a:defRPr sz="1400" b="0">
                <a:solidFill>
                  <a:srgbClr val="2D2D2D"/>
                </a:solidFill>
                <a:latin typeface="Microsoft JhengHei"/>
              </a:defRPr>
            </a:pPr>
            <a:r>
              <a:t>  投信台積電條款何時落地（關鍵時程）；新台幣匯率是否持續走強（外資回補前兆）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D2D2D"/>
                </a:solidFill>
                <a:latin typeface="Microsoft JhengHei"/>
              </a:defRPr>
            </a:pPr>
            <a:r>
              <a:t>  七巨頭財報週結果（軟體能否接棒費半）；ETF贖回潮是否出現（系統性風險指標）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2D2D2D"/>
                </a:solidFill>
                <a:latin typeface="Microsoft JhengHei"/>
              </a:defRPr>
            </a:pPr>
            <a:r>
              <a:t>  IPO下半年資金胃納量；高雄亞資中心7月全台落地後實質進展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64008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D6E8F7"/>
                </a:solidFill>
                <a:latin typeface="Microsoft JhengHei"/>
              </a:defRPr>
              <a:lnSpc>
                <a:spcPct val="120000"/>
              </a:lnSpc>
            </a:pPr>
            <a:r>
              <a:t>資料來源：早晨財經速解讀 | 分析日期：2026-04-28 | 本報告僅供參考，非投資建議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